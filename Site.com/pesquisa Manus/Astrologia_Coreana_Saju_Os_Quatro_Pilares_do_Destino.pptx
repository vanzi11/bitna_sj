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36032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22056" y="0"/>
            <a:ext cx="7144" cy="3603241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388620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Saju (사주): Os Quatro Pilares do Destino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1500" y="2431666"/>
            <a:ext cx="3886200" cy="60007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Um guia completo sobre a astrologia coreana tradicional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5029200" y="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6086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Saju: A astrologia milenar da Coreia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114425"/>
            <a:ext cx="8001000" cy="2505949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285875"/>
            <a:ext cx="76581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Saju (사주) é um sistema tradicional coreano de leitura de destino que analisa a energia do momento exato do nascimento de uma pessoa. A prática possui raízes na metafísica chinesa (BaZi), mas foi profundamente adaptada à cultura coreana ao longo de centenas de anos.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2950" y="2223102"/>
            <a:ext cx="76581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termo é composto por </a:t>
            </a:r>
            <a:r>
              <a:rPr lang="en-US" sz="12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"Sa" (quatro)</a:t>
            </a: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 </a:t>
            </a:r>
            <a:r>
              <a:rPr lang="en-US" sz="12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"Ju" (pilares)</a:t>
            </a: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referindo-se ao ano, mês, dia e hora de </a:t>
            </a: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nascimento. Também é conhecido como </a:t>
            </a:r>
            <a:r>
              <a:rPr lang="en-US" sz="12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"Palja" (oito caracteres)</a:t>
            </a: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pois cada pilar contém </a:t>
            </a: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dois caracteres — um Tronco Celeste e um Ramo Terrestre.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2950" y="3160328"/>
            <a:ext cx="76581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Saju revela personalidade, destino, vida amorosa, saúde e ciclos de sorte ao longo da vida.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64936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Quatro pilares que mapeiam o destino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4357688" cy="2775961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7225" y="1085850"/>
            <a:ext cx="4186238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sistema Saju estrutura a vida de uma pessoa em quatro pilares, cada um correspondendo a um aspecto temporal do nascimento.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7225" y="1897280"/>
            <a:ext cx="418623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Pilar do Ano: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Representa a herança ancestral e os primeiros 1 a 16 anos de vida.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57225" y="2311617"/>
            <a:ext cx="418623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Pilar do Mês: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Reflete a influência dos pais e a juventude, cobrindo dos 16 aos 32 anos.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7225" y="2725955"/>
            <a:ext cx="4186238" cy="53578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Pilar do Dia: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Considerado o mais importante, representa o "Mestre do Dia" (Ilgan) — o núcleo da personalidade e identidade energética.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7225" y="3318886"/>
            <a:ext cx="418623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Pilar da Hora: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Indica os filhos, a velhice e os últimos anos de vida.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" y="3847523"/>
            <a:ext cx="4357688" cy="94001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7225" y="3933248"/>
            <a:ext cx="4186238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pilar é composto por um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Tronco Celeste (천간)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na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parte superior e um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Ramo Terrestre (지지)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na parte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inferior.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57813" y="1000125"/>
            <a:ext cx="3214688" cy="257175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071563"/>
            <a:ext cx="3071813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418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736163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Dez Troncos Celestes: o alfabeto da energia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71563"/>
            <a:ext cx="4143375" cy="2598762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243013"/>
            <a:ext cx="3800475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Troncos Celestes são os dez símbolos que representam as energias fundamentais do universo no sistema Saju. Eles são divididos em Yin e Yang para cada um dos cinco elementos: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2950" y="2363019"/>
            <a:ext cx="3800475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Madeira: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Gap (Yang) e Eul (Yin)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2950" y="2598762"/>
            <a:ext cx="3800475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Fogo: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Byeong (Yang) e Jeong (Yin)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2950" y="2834506"/>
            <a:ext cx="3800475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Terra: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Mu (Yang) e Gi (Yin)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2950" y="3070250"/>
            <a:ext cx="3800475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Metal: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Gyeong (Yang) e Sin (Yin)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2950" y="3305994"/>
            <a:ext cx="3800475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Água: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Im (Yang) e Gye (Yin)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3798912"/>
            <a:ext cx="4143375" cy="161432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950" y="3970362"/>
            <a:ext cx="3800475" cy="125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tronco possui características únicas de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personalidade e destino. Por exemplo,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Gap (Yang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Madeira)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é associado a árvores grandes 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liderança, enquanto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Eul (Yin Madeira)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representa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flores e flexibilidade.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00625" y="1071563"/>
            <a:ext cx="3571875" cy="371475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1" y="1178719"/>
            <a:ext cx="3357563" cy="35004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132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81081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Doze Ramos Terrestres e os animais do zodíaco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3214688" cy="257175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071563"/>
            <a:ext cx="3071813" cy="24288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14813" y="1000125"/>
            <a:ext cx="4357688" cy="2433061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300538" y="1085850"/>
            <a:ext cx="4186238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Ramos Terrestres (지지) correspondem aos doze animais do zodíaco oriental, que formam a base temporal do sistema Saju.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429125" y="1929426"/>
            <a:ext cx="57507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Rato (자)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6557963" y="1929426"/>
            <a:ext cx="49649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Boi (축)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429125" y="2175886"/>
            <a:ext cx="6286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Tigre (인)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557963" y="2175886"/>
            <a:ext cx="71794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Coelho (묘)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29125" y="2422345"/>
            <a:ext cx="74652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Dragão (진)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557963" y="2422345"/>
            <a:ext cx="8572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Serpente (사)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429125" y="2668805"/>
            <a:ext cx="7036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Cavalo (오)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557963" y="2668805"/>
            <a:ext cx="65365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Cabra (미)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429125" y="2915264"/>
            <a:ext cx="77152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Macaco (신)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557963" y="2915264"/>
            <a:ext cx="5643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Galo (유)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429125" y="3161723"/>
            <a:ext cx="5143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Cão (술)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557963" y="3161723"/>
            <a:ext cx="64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Porco (해)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214813" y="3461761"/>
            <a:ext cx="4357688" cy="169429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300538" y="3547486"/>
            <a:ext cx="4186238" cy="150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ramo terrestre carrega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elementos ocultos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(Injang)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que revelam características profundas 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subjacentes da personalidade. A combinação dos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quatro ramos forma o mapa completo da energia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pessoal, onde cada animal interage com os outros para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criar um perfil de destino único.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Madeira, Fogo, Terra, Metal e Água governam o destino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4857750" cy="745741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114425"/>
            <a:ext cx="4629150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teoria dos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Cinco Elementos (오행)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é a base filosófica do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Saju.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71500" y="1845878"/>
            <a:ext cx="4857750" cy="1387283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960178"/>
            <a:ext cx="4629150" cy="2514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Existem duas relações fundamentais entre os elementos: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85800" y="2297330"/>
            <a:ext cx="4629150" cy="37504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Geração (相生):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Madeira alimenta o Fogo, Fogo cria Terra, Terra gera Metal, Metal condensa Água e Água nutre Madeira.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729526"/>
            <a:ext cx="4629150" cy="37504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Controle (相克):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Madeira controla Terra, Terra absorve Água, Água apaga Fogo, Fogo derrete Metal e Metal corta Madeira.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" y="3333173"/>
            <a:ext cx="4857750" cy="99716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447473"/>
            <a:ext cx="462915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equilíbrio ou desequilíbrio desses elementos na carta de nascimento determina as forças e fraquezas de uma pessoa, influenciando todas as áreas da vida.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15000" y="1000125"/>
            <a:ext cx="2857500" cy="257175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38" y="1071563"/>
            <a:ext cx="2714625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918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Yin e Yang: a dualidade que define a energia pessoal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4357688" cy="2277294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314450"/>
            <a:ext cx="4014788" cy="1005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Tronco Celeste e Ramo Terrestre possui uma polaridade Yin ou Yang. A proporção entre Yin e Yang na carta de Saju indica o equilíbrio energético da pessoa.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2950" y="2434456"/>
            <a:ext cx="401478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Yin: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Representa energia receptiva, interior, feminina e suave.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2950" y="2877369"/>
            <a:ext cx="401478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Yang: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Representa energia ativa, exterior, masculina e forte.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3577456"/>
            <a:ext cx="4357688" cy="161432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2950" y="3748906"/>
            <a:ext cx="4014788" cy="125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Uma carta com excesso de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Yang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pode indicar uma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personalidade dominante e extrovertida, enquanto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excesso de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Yin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sugere introspecção e sensibilidade. 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busca pelo equilíbrio entre essas forças é um dos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objetivos centrais da leitura de Saju.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57813" y="1143000"/>
            <a:ext cx="3214688" cy="3214688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214438"/>
            <a:ext cx="3071813" cy="30718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Do nascimento ao destino: como funciona a leitura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143000"/>
            <a:ext cx="4357688" cy="3168086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314450"/>
            <a:ext cx="4014788" cy="125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Para calcular a carta de Saju, são necessários o ano, mês, dia e hora de nascimento, preferencialmente no horário solar local. A partir desses dados, converte-se o calendário gregoriano para o calendário lunar coreano.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2950" y="2685883"/>
            <a:ext cx="401478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1. Cálculo dos Pilares: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Cada pilar é preenchido com o Tronco Celeste e Ramo Terrestre correspondentes.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2950" y="3128795"/>
            <a:ext cx="4014788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2. O "Mestre do Dia" (Ilgan):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É o Tronco Celeste do Pilar do Dia e define a identidade energética central da pessoa.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2950" y="3571708"/>
            <a:ext cx="4014788" cy="55364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3. Os Dez Deuses (십신):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Descrevem as relações entre os elementos e revelam tendências de carreira, amor, saúde e finanças.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57813" y="1143000"/>
            <a:ext cx="3214688" cy="3214688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214438"/>
            <a:ext cx="3071813" cy="30718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376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81224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Os Dez Deuses revelam personalidade e destino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71563"/>
            <a:ext cx="4857750" cy="2854542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1214438"/>
            <a:ext cx="45720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Dez Deuses (십신)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são as relações entre o Mestre do Dia 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demais elementos da carta. Eles se dividem em cinco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categorias principais: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4375" y="2054442"/>
            <a:ext cx="4572000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Iman (Recurso):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Indica educação, sabedoria e apoio.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4375" y="2304473"/>
            <a:ext cx="4572000" cy="178594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Jipgwan (Poder):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Revela autoridade, carreira e disciplina.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4375" y="2554505"/>
            <a:ext cx="4572000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Jeonggwan (Expressão):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Mostra criatividade, comunicação e talento.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4375" y="2983130"/>
            <a:ext cx="4572000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Jeongjae (Riqueza):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Indica finanças, recursos materiais e controle.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4375" y="3411755"/>
            <a:ext cx="4572000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Bigyeon (Competição):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Revela independência, força de vontade e rivalidade.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4054692"/>
            <a:ext cx="4857750" cy="105431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4375" y="4197567"/>
            <a:ext cx="4572000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Cada deus possui uma versão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Yang (mais ativa)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 uma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versão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Yin (mais receptiva)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totalizando dez interpretações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distintas que moldam o perfil completo do destino.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715000" y="1071563"/>
            <a:ext cx="2857500" cy="285750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38" y="1143000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816887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De prática xamânica a fenômeno cultural global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4500563" cy="161432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2950" y="1171575"/>
            <a:ext cx="4157663" cy="125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 Saju é uma prática profundamente enraizada na cultura coreana, presente desde a dinastia Joseon até os dias atuais. Tradicionalmente associado a xamãs (Mudang) e adivinhos, hoje é acessível por meio de aplicativos, sites online e até cafés temáticos em Seul.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71500" y="2714458"/>
            <a:ext cx="4500563" cy="186574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2950" y="2885908"/>
            <a:ext cx="4157663" cy="1508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Estima-se que o mercado de adivinhação na Coreia do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Sul movimente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bilhões de won por ano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 Programas de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TV, filmes e séries de drama coreanos frequentemente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incorporam elementos de Saju em seus enredos,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refletindo a popularidade duradoura dessa prática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ancestral que continua atraindo gerações.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57813" y="1000125"/>
            <a:ext cx="3214688" cy="257175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071563"/>
            <a:ext cx="3071813" cy="2428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89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690443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Tradição ancestral encontra a era digital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928688"/>
            <a:ext cx="4357688" cy="258308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042988"/>
            <a:ext cx="4129088" cy="75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consulta ao Saju evoluiu ao longo do tempo, adaptando-se às novas tecnologias sem perder sua essência filosófica.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1882992"/>
            <a:ext cx="4129088" cy="7143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Forma Tradicional: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Envolve visitar um adivinho profissional em pessoa. O especialista analisa a carta manualmente e oferece orientação personalizada e profunda sobre destino, casamento, carreira e saúde.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668805"/>
            <a:ext cx="4129088" cy="7143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Forma Moderna: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 acesso se tornou mais amplo através de aplicativos de celular (como o Manseong Saju), sites de cálculo automático e plataformas de consulta online com especialistas de todo o mundo.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3611780"/>
            <a:ext cx="4357688" cy="1500020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726080"/>
            <a:ext cx="4129088" cy="1257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Embora o formato e a acessibilidade tenham mudado,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princípios fundamentais permanecem os mesmos: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Quatro Pilares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Cinco Elementos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 a interação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Yin-Yang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continuam sendo a base inalterável de toda 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leitura, seja ela feita à mão ou por um algoritmo.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357813" y="928688"/>
            <a:ext cx="3214688" cy="3214688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000125"/>
            <a:ext cx="3071813" cy="30718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676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50106"/>
            <a:ext cx="9144000" cy="7144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14313"/>
            <a:ext cx="68079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Continue explorando o universo do Saju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571500" y="1000125"/>
            <a:ext cx="5572125" cy="2517391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114425"/>
            <a:ext cx="5343525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Para quem deseja se aprofundar, existem diversas fontes confiáveis disponíveis atualmente: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1703003"/>
            <a:ext cx="5343525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K-Saju (k-saju.co.kr):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Oferece guias profissionais completos sobre interpretação de cartas.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2145916"/>
            <a:ext cx="5343525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Canais no YouTube: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Como "Sage &amp; Saju" e vídeos educativos que explicam conceitos para iniciantes.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2588828"/>
            <a:ext cx="5343525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Etsy: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Plataforma que possui serviços de leitura personalizada por especialistas coreanos.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031741"/>
            <a:ext cx="5343525" cy="35718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Calculadoras Online:</a:t>
            </a:r>
            <a:r>
              <a:rPr lang="en-US" sz="1050" dirty="0">
                <a:solidFill>
                  <a:srgbClr val="00339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Ferramentas gratuitas para gerar a própria carta de Saju.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1500" y="3617528"/>
            <a:ext cx="5572125" cy="745741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731828"/>
            <a:ext cx="5343525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Recomenda-se começar compreendendo 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Troncos Celestes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 os </a:t>
            </a:r>
            <a:r>
              <a:rPr lang="en-US" sz="1100" b="1" dirty="0">
                <a:solidFill>
                  <a:srgbClr val="990000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Cinco Elementos</a:t>
            </a:r>
            <a:r>
              <a:rPr lang="en-US" sz="1150" dirty="0">
                <a:solidFill>
                  <a:srgbClr val="111111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antes de avançar para leituras completas.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1500" y="4463281"/>
            <a:ext cx="5572125" cy="832917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4663306"/>
            <a:ext cx="5343525" cy="504304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555555"/>
                </a:solidFill>
                <a:latin typeface="Merriweather Black" pitchFamily="34" charset="0"/>
                <a:ea typeface="Merriweather Black" pitchFamily="34" charset="-122"/>
                <a:cs typeface="Merriweather Black" pitchFamily="34" charset="-120"/>
              </a:rPr>
              <a:t>Referências:</a:t>
            </a:r>
            <a:r>
              <a:rPr lang="en-US" sz="950" dirty="0">
                <a:solidFill>
                  <a:srgbClr val="5555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K-Saju (k-saju.co.kr), Best of Korea, YouTube (@SageAndSaju), TikTok </a:t>
            </a:r>
            <a:r>
              <a:rPr lang="en-US" sz="950" dirty="0">
                <a:solidFill>
                  <a:srgbClr val="555555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(@jewelsjpj)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429375" y="1000125"/>
            <a:ext cx="2143125" cy="2143125"/>
          </a:xfrm>
          <a:prstGeom prst="rect">
            <a:avLst/>
          </a:prstGeom>
          <a:solidFill>
            <a:srgbClr val="003399">
              <a:alpha val="2000"/>
            </a:srgbClr>
          </a:solidFill>
          <a:ln w="9144">
            <a:solidFill>
              <a:srgbClr val="003399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813" y="1071563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2026-07-23T01:17:40Z</dcterms:created>
  <dcterms:modified xsi:type="dcterms:W3CDTF">2026-07-23T01:17:40Z</dcterms:modified>
</cp:coreProperties>
</file>